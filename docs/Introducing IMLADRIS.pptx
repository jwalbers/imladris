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4"/>
  </p:sldMasterIdLst>
  <p:notesMasterIdLst>
    <p:notesMasterId r:id="rId16"/>
  </p:notesMasterIdLst>
  <p:sldIdLst>
    <p:sldId id="4993" r:id="rId5"/>
    <p:sldId id="4976" r:id="rId6"/>
    <p:sldId id="4992" r:id="rId7"/>
    <p:sldId id="4987" r:id="rId8"/>
    <p:sldId id="4988" r:id="rId9"/>
    <p:sldId id="4989" r:id="rId10"/>
    <p:sldId id="4990" r:id="rId11"/>
    <p:sldId id="4995" r:id="rId12"/>
    <p:sldId id="4996" r:id="rId13"/>
    <p:sldId id="4994" r:id="rId14"/>
    <p:sldId id="4991" r:id="rId15"/>
  </p:sldIdLst>
  <p:sldSz cx="24384000" cy="13716000"/>
  <p:notesSz cx="6858000" cy="9144000"/>
  <p:defaultTextStyle>
    <a:defPPr>
      <a:defRPr lang="en-US"/>
    </a:defPPr>
    <a:lvl1pPr marL="0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1pPr>
    <a:lvl2pPr marL="914035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2pPr>
    <a:lvl3pPr marL="1828068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3pPr>
    <a:lvl4pPr marL="2742103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4pPr>
    <a:lvl5pPr marL="3656137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5pPr>
    <a:lvl6pPr marL="4570172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6pPr>
    <a:lvl7pPr marL="5484207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7pPr>
    <a:lvl8pPr marL="6398240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8pPr>
    <a:lvl9pPr marL="7312275" algn="l" defTabSz="1828068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232C4C45-F21E-7C45-A094-2C28D6E1FF99}">
          <p14:sldIdLst>
            <p14:sldId id="4993"/>
            <p14:sldId id="4976"/>
            <p14:sldId id="4992"/>
            <p14:sldId id="4987"/>
            <p14:sldId id="4988"/>
            <p14:sldId id="4989"/>
            <p14:sldId id="4990"/>
            <p14:sldId id="4995"/>
            <p14:sldId id="4996"/>
            <p14:sldId id="4994"/>
            <p14:sldId id="4991"/>
          </p14:sldIdLst>
        </p14:section>
        <p14:section name="Covers" id="{7EC6F22F-78F4-4B43-B3BF-045C3A4BD4E0}">
          <p14:sldIdLst/>
        </p14:section>
        <p14:section name="Section Dividers" id="{A6316ED1-49FA-4142-9EF5-A0FB7C44B6C1}">
          <p14:sldIdLst/>
        </p14:section>
        <p14:section name="Agenda" id="{D08EC9DC-CC5B-0E40-B7C7-7EF85C1CCA85}">
          <p14:sldIdLst/>
        </p14:section>
        <p14:section name="Maps" id="{3E4E14C2-59E7-504F-A737-381192215B18}">
          <p14:sldIdLst/>
        </p14:section>
        <p14:section name="Simple Content" id="{BA612C46-9F12-534F-89AB-55275F767105}">
          <p14:sldIdLst/>
        </p14:section>
        <p14:section name="Text Slides" id="{C2707F8F-9F2B-D346-B14D-6EF95CE2FD7D}">
          <p14:sldIdLst/>
        </p14:section>
        <p14:section name="Content Diagrams" id="{98832634-D7B8-3F41-84FA-4B367B9AE37C}">
          <p14:sldIdLst/>
        </p14:section>
        <p14:section name="Compare &amp; Contrast" id="{EEFAA4D4-BCEB-5E41-B82E-36BDA2EA2E4C}">
          <p14:sldIdLst/>
        </p14:section>
        <p14:section name="Timeline" id="{87553A43-1847-D246-9E58-122F7FD8F7CC}">
          <p14:sldIdLst/>
        </p14:section>
        <p14:section name="Infographics" id="{8BA4B406-21C4-354B-8224-0D79F703B8CB}">
          <p14:sldIdLst/>
        </p14:section>
      </p14:sectionLst>
    </p:ext>
    <p:ext uri="{EFAFB233-063F-42B5-8137-9DF3F51BA10A}">
      <p15:sldGuideLst xmlns:p15="http://schemas.microsoft.com/office/powerpoint/2012/main">
        <p15:guide id="32" orient="horz" pos="4320" userDrawn="1">
          <p15:clr>
            <a:srgbClr val="A4A3A4"/>
          </p15:clr>
        </p15:guide>
        <p15:guide id="35" pos="14474" userDrawn="1">
          <p15:clr>
            <a:srgbClr val="A4A3A4"/>
          </p15:clr>
        </p15:guide>
        <p15:guide id="49" pos="910" userDrawn="1">
          <p15:clr>
            <a:srgbClr val="A4A3A4"/>
          </p15:clr>
        </p15:guide>
        <p15:guide id="52" pos="76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3979A6-2EEE-4E9D-39FF-5043C24BBDD5}" name="Michelle Riccio" initials="MR" userId="S::mriccio@pih.org::e0324c7f-0d6c-4f8b-8e02-5d2b018d67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A90037"/>
    <a:srgbClr val="CFCFCF"/>
    <a:srgbClr val="FF6BFF"/>
    <a:srgbClr val="000000"/>
    <a:srgbClr val="626162"/>
    <a:srgbClr val="445469"/>
    <a:srgbClr val="5A5A66"/>
    <a:srgbClr val="888789"/>
    <a:srgbClr val="C4D4E2"/>
    <a:srgbClr val="37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7"/>
    <p:restoredTop sz="94653"/>
  </p:normalViewPr>
  <p:slideViewPr>
    <p:cSldViewPr snapToGrid="0">
      <p:cViewPr varScale="1">
        <p:scale>
          <a:sx n="58" d="100"/>
          <a:sy n="58" d="100"/>
        </p:scale>
        <p:origin x="264" y="872"/>
      </p:cViewPr>
      <p:guideLst>
        <p:guide orient="horz" pos="4320"/>
        <p:guide pos="14474"/>
        <p:guide pos="91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 Regular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 Regular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 Regular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 Regular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35" rtl="0" eaLnBrk="1" latinLnBrk="0" hangingPunct="1">
      <a:defRPr sz="2400" b="0" i="0" kern="1200">
        <a:solidFill>
          <a:schemeClr val="tx1"/>
        </a:solidFill>
        <a:latin typeface="Calibri Regular" charset="0"/>
        <a:ea typeface="+mn-ea"/>
        <a:cs typeface="+mn-cs"/>
      </a:defRPr>
    </a:lvl1pPr>
    <a:lvl2pPr marL="914035" algn="l" defTabSz="914035" rtl="0" eaLnBrk="1" latinLnBrk="0" hangingPunct="1">
      <a:defRPr sz="2400" b="0" i="0" kern="1200">
        <a:solidFill>
          <a:schemeClr val="tx1"/>
        </a:solidFill>
        <a:latin typeface="Calibri Regular" charset="0"/>
        <a:ea typeface="+mn-ea"/>
        <a:cs typeface="+mn-cs"/>
      </a:defRPr>
    </a:lvl2pPr>
    <a:lvl3pPr marL="1828068" algn="l" defTabSz="914035" rtl="0" eaLnBrk="1" latinLnBrk="0" hangingPunct="1">
      <a:defRPr sz="2400" b="0" i="0" kern="1200">
        <a:solidFill>
          <a:schemeClr val="tx1"/>
        </a:solidFill>
        <a:latin typeface="Calibri Regular" charset="0"/>
        <a:ea typeface="+mn-ea"/>
        <a:cs typeface="+mn-cs"/>
      </a:defRPr>
    </a:lvl3pPr>
    <a:lvl4pPr marL="2742103" algn="l" defTabSz="914035" rtl="0" eaLnBrk="1" latinLnBrk="0" hangingPunct="1">
      <a:defRPr sz="2400" b="0" i="0" kern="1200">
        <a:solidFill>
          <a:schemeClr val="tx1"/>
        </a:solidFill>
        <a:latin typeface="Calibri Regular" charset="0"/>
        <a:ea typeface="+mn-ea"/>
        <a:cs typeface="+mn-cs"/>
      </a:defRPr>
    </a:lvl4pPr>
    <a:lvl5pPr marL="3656137" algn="l" defTabSz="914035" rtl="0" eaLnBrk="1" latinLnBrk="0" hangingPunct="1">
      <a:defRPr sz="2400" b="0" i="0" kern="1200">
        <a:solidFill>
          <a:schemeClr val="tx1"/>
        </a:solidFill>
        <a:latin typeface="Calibri Regular" charset="0"/>
        <a:ea typeface="+mn-ea"/>
        <a:cs typeface="+mn-cs"/>
      </a:defRPr>
    </a:lvl5pPr>
    <a:lvl6pPr marL="4570172" algn="l" defTabSz="9140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4207" algn="l" defTabSz="9140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8240" algn="l" defTabSz="9140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2275" algn="l" defTabSz="9140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98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71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69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1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54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7E3FF0C-FF39-2147-957A-47038787BB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2DA4FD-9C9B-564D-91F2-7B5693812E24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26549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01800" y="1306028"/>
            <a:ext cx="11349563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>
            <a:cxnSpLocks/>
          </p:cNvCxnSpPr>
          <p:nvPr userDrawn="1"/>
        </p:nvCxnSpPr>
        <p:spPr>
          <a:xfrm>
            <a:off x="1701800" y="2509184"/>
            <a:ext cx="120419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88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01800" y="1306028"/>
            <a:ext cx="11349563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>
            <a:cxnSpLocks/>
          </p:cNvCxnSpPr>
          <p:nvPr userDrawn="1"/>
        </p:nvCxnSpPr>
        <p:spPr>
          <a:xfrm>
            <a:off x="1701800" y="2509184"/>
            <a:ext cx="1204190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60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01800" y="1306028"/>
            <a:ext cx="11349563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>
            <a:cxnSpLocks/>
          </p:cNvCxnSpPr>
          <p:nvPr userDrawn="1"/>
        </p:nvCxnSpPr>
        <p:spPr>
          <a:xfrm>
            <a:off x="1701800" y="2509184"/>
            <a:ext cx="12041909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9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01800" y="1306028"/>
            <a:ext cx="11349563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>
            <a:cxnSpLocks/>
          </p:cNvCxnSpPr>
          <p:nvPr userDrawn="1"/>
        </p:nvCxnSpPr>
        <p:spPr>
          <a:xfrm>
            <a:off x="1701800" y="2509184"/>
            <a:ext cx="1204190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39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 Gray 2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01800" y="1306027"/>
            <a:ext cx="11376891" cy="1825099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HERE,</a:t>
            </a:r>
            <a:br>
              <a:rPr lang="en-US"/>
            </a:br>
            <a:r>
              <a:rPr lang="en-US"/>
              <a:t>SECOND LINE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>
            <a:cxnSpLocks/>
          </p:cNvCxnSpPr>
          <p:nvPr userDrawn="1"/>
        </p:nvCxnSpPr>
        <p:spPr>
          <a:xfrm>
            <a:off x="1701800" y="3506712"/>
            <a:ext cx="1204190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56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 Gray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701800" y="1306028"/>
            <a:ext cx="11349563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>
            <a:cxnSpLocks/>
          </p:cNvCxnSpPr>
          <p:nvPr userDrawn="1"/>
        </p:nvCxnSpPr>
        <p:spPr>
          <a:xfrm>
            <a:off x="1701800" y="2509184"/>
            <a:ext cx="1204190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5D920-D4C1-3543-ACBF-9B1AA0E593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68" y="3924065"/>
            <a:ext cx="11669032" cy="4196676"/>
          </a:xfrm>
        </p:spPr>
        <p:txBody>
          <a:bodyPr/>
          <a:lstStyle>
            <a:lvl1pPr>
              <a:lnSpc>
                <a:spcPct val="100000"/>
              </a:lnSpc>
              <a:defRPr b="1"/>
            </a:lvl1pPr>
            <a:lvl2pPr marL="1371600" marR="0" indent="-457200" algn="l" defTabSz="18288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2400300" indent="-571500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/>
              <a:t>This is a very important line</a:t>
            </a:r>
          </a:p>
          <a:p>
            <a:pPr lvl="1"/>
            <a:r>
              <a:rPr lang="en-US"/>
              <a:t>This is a little less important</a:t>
            </a:r>
          </a:p>
          <a:p>
            <a:pPr marL="1371600" marR="0" lvl="1" indent="-457200" algn="l" defTabSz="18288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This is a little less important</a:t>
            </a:r>
          </a:p>
          <a:p>
            <a:pPr lvl="2"/>
            <a:r>
              <a:rPr lang="en-US"/>
              <a:t>This explains the line before</a:t>
            </a:r>
          </a:p>
        </p:txBody>
      </p:sp>
    </p:spTree>
    <p:extLst>
      <p:ext uri="{BB962C8B-B14F-4D97-AF65-F5344CB8AC3E}">
        <p14:creationId xmlns:p14="http://schemas.microsoft.com/office/powerpoint/2010/main" val="415792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394146" y="1306028"/>
            <a:ext cx="19595719" cy="862040"/>
          </a:xfrm>
          <a:prstGeom prst="rect">
            <a:avLst/>
          </a:prstGeom>
        </p:spPr>
        <p:txBody>
          <a:bodyPr/>
          <a:lstStyle>
            <a:lvl1pPr algn="ctr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pic>
        <p:nvPicPr>
          <p:cNvPr id="6" name="Picture 5" descr="PIH_logo_new_orange_hands only-01.png">
            <a:extLst>
              <a:ext uri="{FF2B5EF4-FFF2-40B4-BE49-F238E27FC236}">
                <a16:creationId xmlns:a16="http://schemas.microsoft.com/office/drawing/2014/main" id="{B435E186-D0A9-774A-A391-875BCBCF48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12615031"/>
            <a:ext cx="719137" cy="719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0946A-0261-3644-954F-9AC39E3BA1CD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67252-E329-7640-B41F-30110393C8E1}"/>
              </a:ext>
            </a:extLst>
          </p:cNvPr>
          <p:cNvCxnSpPr/>
          <p:nvPr userDrawn="1"/>
        </p:nvCxnSpPr>
        <p:spPr>
          <a:xfrm>
            <a:off x="1701800" y="2509184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8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676400" y="1306721"/>
            <a:ext cx="21031200" cy="923768"/>
          </a:xfrm>
        </p:spPr>
        <p:txBody>
          <a:bodyPr>
            <a:normAutofit/>
          </a:bodyPr>
          <a:lstStyle>
            <a:lvl1pPr>
              <a:defRPr sz="76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E3FF0C-FF39-2147-957A-47038787BB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371D59-3DA2-7E42-8119-78E772E8996C}"/>
              </a:ext>
            </a:extLst>
          </p:cNvPr>
          <p:cNvCxnSpPr/>
          <p:nvPr userDrawn="1"/>
        </p:nvCxnSpPr>
        <p:spPr>
          <a:xfrm>
            <a:off x="1701800" y="2509184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78880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394146" y="1306028"/>
            <a:ext cx="19595719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394146" y="2227043"/>
            <a:ext cx="19595716" cy="6762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 i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defRPr>
            </a:lvl1pPr>
          </a:lstStyle>
          <a:p>
            <a:pPr lvl="0"/>
            <a:r>
              <a:rPr lang="de-DE"/>
              <a:t>Subtitle Goes Here. Lorem Ipsum Dolor Sit Amet, A Gravida Quis Wisi Elit Diam Sit Donec Libero.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6378D-EBD5-BD4B-955F-8A44FD3EB1C2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343228-5710-3742-AEF1-04B76C899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8107E6-5696-1B41-84CF-39526EC65EE3}"/>
              </a:ext>
            </a:extLst>
          </p:cNvPr>
          <p:cNvCxnSpPr/>
          <p:nvPr userDrawn="1"/>
        </p:nvCxnSpPr>
        <p:spPr>
          <a:xfrm>
            <a:off x="1619578" y="3182953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07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A 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AC0E31-B13E-7B4B-9987-8AF312E40442}"/>
              </a:ext>
            </a:extLst>
          </p:cNvPr>
          <p:cNvCxnSpPr/>
          <p:nvPr userDrawn="1"/>
        </p:nvCxnSpPr>
        <p:spPr>
          <a:xfrm>
            <a:off x="1619578" y="2987011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FD0BC-F111-6B43-B81C-EC7C3979D6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6399" y="942319"/>
            <a:ext cx="14339455" cy="1122359"/>
          </a:xfrm>
        </p:spPr>
        <p:txBody>
          <a:bodyPr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  <a:lvl2pPr marL="914400" indent="0">
              <a:buNone/>
              <a:defRPr/>
            </a:lvl2pPr>
          </a:lstStyle>
          <a:p>
            <a:pPr lvl="0"/>
            <a:r>
              <a:rPr lang="en-US"/>
              <a:t>Header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B84CCDB-7F82-B342-8AFB-0211BB0381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76399" y="2064889"/>
            <a:ext cx="14339455" cy="484348"/>
          </a:xfrm>
        </p:spPr>
        <p:txBody>
          <a:bodyPr>
            <a:noAutofit/>
          </a:bodyPr>
          <a:lstStyle>
            <a:lvl1pPr>
              <a:defRPr sz="3200" b="1" spc="300">
                <a:solidFill>
                  <a:schemeClr val="tx2"/>
                </a:solidFill>
              </a:defRPr>
            </a:lvl1pPr>
            <a:lvl2pPr marL="9144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9246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 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96766B-46B7-3D42-915E-9C7157096CC0}"/>
              </a:ext>
            </a:extLst>
          </p:cNvPr>
          <p:cNvCxnSpPr/>
          <p:nvPr userDrawn="1"/>
        </p:nvCxnSpPr>
        <p:spPr>
          <a:xfrm>
            <a:off x="1619578" y="2987011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A4D98FC-F0B1-8248-B02C-FF39446B22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6399" y="1413374"/>
            <a:ext cx="14339455" cy="1122359"/>
          </a:xfrm>
        </p:spPr>
        <p:txBody>
          <a:bodyPr>
            <a:noAutofit/>
          </a:bodyPr>
          <a:lstStyle>
            <a:lvl1pPr>
              <a:defRPr sz="6600">
                <a:solidFill>
                  <a:schemeClr val="tx1"/>
                </a:solidFill>
              </a:defRPr>
            </a:lvl1pPr>
            <a:lvl2pPr marL="914400" indent="0">
              <a:buNone/>
              <a:defRPr/>
            </a:lvl2pPr>
          </a:lstStyle>
          <a:p>
            <a:pPr lvl="0"/>
            <a:r>
              <a:rPr lang="en-US"/>
              <a:t>Header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1A8F2DA-89B7-5C46-A01C-F7A9D37A19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76399" y="790271"/>
            <a:ext cx="14339455" cy="484348"/>
          </a:xfrm>
        </p:spPr>
        <p:txBody>
          <a:bodyPr>
            <a:noAutofit/>
          </a:bodyPr>
          <a:lstStyle>
            <a:lvl1pPr>
              <a:defRPr sz="3200" b="1" spc="300">
                <a:solidFill>
                  <a:schemeClr val="tx2"/>
                </a:solidFill>
              </a:defRPr>
            </a:lvl1pPr>
            <a:lvl2pPr marL="91440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5347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 Title+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B6677-BFB4-9644-ABB8-E5780708C0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3091543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OUR MISSION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0DBD2E-7A67-7247-B793-FBDE71E8B7B1}"/>
              </a:ext>
            </a:extLst>
          </p:cNvPr>
          <p:cNvCxnSpPr/>
          <p:nvPr userDrawn="1"/>
        </p:nvCxnSpPr>
        <p:spPr>
          <a:xfrm>
            <a:off x="1625600" y="4446366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4F33F6-2017-A04D-A230-5D99DE7270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4525974"/>
            <a:ext cx="21259800" cy="7850187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“Our mission is to provide a preferential option for the poor in health care. By establishing long-term relationships with sister organizations based in settings of poverty, Partners In Health strives to achieve two overarching goals: to bring the benefits of modern medical science to those most in need of them and to serve as an antidote to despair”</a:t>
            </a:r>
          </a:p>
        </p:txBody>
      </p:sp>
    </p:spTree>
    <p:extLst>
      <p:ext uri="{BB962C8B-B14F-4D97-AF65-F5344CB8AC3E}">
        <p14:creationId xmlns:p14="http://schemas.microsoft.com/office/powerpoint/2010/main" val="259224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A Title+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5E7A43-27CC-2A4B-A88F-9EA4E91FE96C}"/>
              </a:ext>
            </a:extLst>
          </p:cNvPr>
          <p:cNvCxnSpPr>
            <a:cxnSpLocks/>
          </p:cNvCxnSpPr>
          <p:nvPr userDrawn="1"/>
        </p:nvCxnSpPr>
        <p:spPr>
          <a:xfrm>
            <a:off x="1701800" y="7177437"/>
            <a:ext cx="6527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247F78-BC18-144E-BF08-D5D59731F1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1800" y="6621690"/>
            <a:ext cx="21234399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B208B8-C2AF-2B4C-A6F3-D328B4D25ADB}"/>
              </a:ext>
            </a:extLst>
          </p:cNvPr>
          <p:cNvCxnSpPr>
            <a:cxnSpLocks/>
          </p:cNvCxnSpPr>
          <p:nvPr userDrawn="1"/>
        </p:nvCxnSpPr>
        <p:spPr>
          <a:xfrm>
            <a:off x="16403782" y="7149727"/>
            <a:ext cx="6532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34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A Title+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5E7A43-27CC-2A4B-A88F-9EA4E91FE96C}"/>
              </a:ext>
            </a:extLst>
          </p:cNvPr>
          <p:cNvCxnSpPr/>
          <p:nvPr userDrawn="1"/>
        </p:nvCxnSpPr>
        <p:spPr>
          <a:xfrm>
            <a:off x="1701800" y="7177437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247F78-BC18-144E-BF08-D5D59731F1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5911951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828DFDC-F2D2-594C-98EE-F5A24E1A0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7186948"/>
            <a:ext cx="21259800" cy="1412763"/>
          </a:xfrm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7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 Title+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B1315-AF62-D248-9814-88357E48EE0A}"/>
              </a:ext>
            </a:extLst>
          </p:cNvPr>
          <p:cNvCxnSpPr/>
          <p:nvPr userDrawn="1"/>
        </p:nvCxnSpPr>
        <p:spPr>
          <a:xfrm>
            <a:off x="1625600" y="5526437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93AE772-7A51-764E-8911-C95DF1AF84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4273214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5BDC75E-4F3B-D245-8A4C-B145320149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5526437"/>
            <a:ext cx="21259800" cy="4410038"/>
          </a:xfrm>
        </p:spPr>
        <p:txBody>
          <a:bodyPr>
            <a:normAutofit/>
          </a:bodyPr>
          <a:lstStyle>
            <a:lvl1pPr marL="0" marR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5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 Title+Sub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C787B7D-D2EC-204E-9D99-F60380E3B5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5526437"/>
            <a:ext cx="21259800" cy="4410038"/>
          </a:xfrm>
        </p:spPr>
        <p:txBody>
          <a:bodyPr>
            <a:normAutofit/>
          </a:bodyPr>
          <a:lstStyle>
            <a:lvl1pPr marL="0" marR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B1315-AF62-D248-9814-88357E48EE0A}"/>
              </a:ext>
            </a:extLst>
          </p:cNvPr>
          <p:cNvCxnSpPr/>
          <p:nvPr userDrawn="1"/>
        </p:nvCxnSpPr>
        <p:spPr>
          <a:xfrm>
            <a:off x="1625600" y="5526437"/>
            <a:ext cx="2123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E7B8E1B-6077-194B-BD29-BC1AC715B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4273214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843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 Title+Sub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B1315-AF62-D248-9814-88357E48EE0A}"/>
              </a:ext>
            </a:extLst>
          </p:cNvPr>
          <p:cNvCxnSpPr/>
          <p:nvPr userDrawn="1"/>
        </p:nvCxnSpPr>
        <p:spPr>
          <a:xfrm>
            <a:off x="1625600" y="5526437"/>
            <a:ext cx="2123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BF6EDB4-A8B4-F745-AB21-152479A628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5526437"/>
            <a:ext cx="21259800" cy="4410038"/>
          </a:xfrm>
        </p:spPr>
        <p:txBody>
          <a:bodyPr>
            <a:normAutofit/>
          </a:bodyPr>
          <a:lstStyle>
            <a:lvl1pPr marL="0" marR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69C3D6-3ED3-994D-9C2D-B0C375BC66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4273214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0690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 Title+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B1315-AF62-D248-9814-88357E48EE0A}"/>
              </a:ext>
            </a:extLst>
          </p:cNvPr>
          <p:cNvCxnSpPr/>
          <p:nvPr userDrawn="1"/>
        </p:nvCxnSpPr>
        <p:spPr>
          <a:xfrm>
            <a:off x="1625600" y="5526437"/>
            <a:ext cx="2123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8BE6608-D979-1145-82D2-987E30C65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5526437"/>
            <a:ext cx="21259800" cy="4410038"/>
          </a:xfrm>
        </p:spPr>
        <p:txBody>
          <a:bodyPr>
            <a:normAutofit/>
          </a:bodyPr>
          <a:lstStyle>
            <a:lvl1pPr marL="0" marR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DA0FB47-8B4E-F14D-B4A9-36102D9262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4273214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839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 Title+Sub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32B661-D2AB-9942-89BE-1D01BD0F838C}"/>
              </a:ext>
            </a:extLst>
          </p:cNvPr>
          <p:cNvSpPr txBox="1"/>
          <p:nvPr userDrawn="1"/>
        </p:nvSpPr>
        <p:spPr>
          <a:xfrm>
            <a:off x="21857200" y="12658971"/>
            <a:ext cx="99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1C176C-9892-EB43-8AB3-716836132029}" type="slidenum">
              <a:rPr lang="en-US" sz="4000">
                <a:solidFill>
                  <a:srgbClr val="F8971D"/>
                </a:solidFill>
                <a:latin typeface="Whitney Medium" charset="0"/>
                <a:ea typeface="Whitney Medium" charset="0"/>
                <a:cs typeface="Whitney Medium" charset="0"/>
              </a:rPr>
              <a:t>‹#›</a:t>
            </a:fld>
            <a:endParaRPr lang="en-US" sz="4000">
              <a:solidFill>
                <a:srgbClr val="F8971D"/>
              </a:solidFill>
              <a:latin typeface="Whitney Medium" charset="0"/>
              <a:ea typeface="Whitney Medium" charset="0"/>
              <a:cs typeface="Whitney Medium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43C294-2B46-4E4A-8FEC-A62274F267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5" y="12531971"/>
            <a:ext cx="2426005" cy="9237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1B1315-AF62-D248-9814-88357E48EE0A}"/>
              </a:ext>
            </a:extLst>
          </p:cNvPr>
          <p:cNvCxnSpPr/>
          <p:nvPr userDrawn="1"/>
        </p:nvCxnSpPr>
        <p:spPr>
          <a:xfrm>
            <a:off x="1625600" y="5526437"/>
            <a:ext cx="2123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64F318D-1430-F24E-98AD-254826ACCE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25600" y="5526437"/>
            <a:ext cx="21259800" cy="4410038"/>
          </a:xfrm>
        </p:spPr>
        <p:txBody>
          <a:bodyPr>
            <a:normAutofit/>
          </a:bodyPr>
          <a:lstStyle>
            <a:lvl1pPr marL="0" marR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400"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 </a:t>
            </a: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,</a:t>
            </a:r>
          </a:p>
          <a:p>
            <a:pPr marL="0" marR="0" lvl="0" indent="0" algn="ctr" defTabSz="1828800" rtl="0" eaLnBrk="1" fontAlgn="auto" latinLnBrk="0" hangingPunct="1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2DFA14D-D605-7743-A71C-107ACAB95A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25601" y="4273214"/>
            <a:ext cx="21259802" cy="1253223"/>
          </a:xfrm>
        </p:spPr>
        <p:txBody>
          <a:bodyPr>
            <a:normAutofit/>
          </a:bodyPr>
          <a:lstStyle>
            <a:lvl1pPr algn="ctr">
              <a:defRPr sz="8000" b="1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9063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Quarter"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006507A-4D8B-5C48-8AE3-C7A07B861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24384000" cy="92918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4001">
                <a:noFill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93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" y="8255002"/>
            <a:ext cx="24384003" cy="546100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>
              <a:defRPr sz="2801"/>
            </a:lvl1pPr>
          </a:lstStyle>
          <a:p>
            <a:pPr lvl="0"/>
            <a:endParaRPr lang="en-US" noProof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4B7E04-0023-5948-85C9-6889F95D9B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4146" y="1306028"/>
            <a:ext cx="19595719" cy="862040"/>
          </a:xfrm>
          <a:prstGeom prst="rect">
            <a:avLst/>
          </a:prstGeom>
        </p:spPr>
        <p:txBody>
          <a:bodyPr/>
          <a:lstStyle>
            <a:lvl1pPr algn="ctr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E9309C2-D6FF-F544-BD06-EF13C390DD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4145" y="2371270"/>
            <a:ext cx="19595716" cy="6762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 i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defRPr>
            </a:lvl1pPr>
          </a:lstStyle>
          <a:p>
            <a:pPr lvl="0"/>
            <a:r>
              <a:rPr lang="de-DE"/>
              <a:t>Subtitle Goes Here. Lorem Ipsum Dolor Sit Amet, A Gravida Quis Wisi Elit Diam Sit Donec Libero.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01C86-56D6-884A-88BC-BDEA6B9998F6}"/>
              </a:ext>
            </a:extLst>
          </p:cNvPr>
          <p:cNvCxnSpPr/>
          <p:nvPr userDrawn="1"/>
        </p:nvCxnSpPr>
        <p:spPr>
          <a:xfrm>
            <a:off x="1619578" y="3182953"/>
            <a:ext cx="2123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57683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" y="0"/>
            <a:ext cx="7736480" cy="13716000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>
              <a:defRPr sz="2801"/>
            </a:lvl1pPr>
          </a:lstStyle>
          <a:p>
            <a:pPr lvl="0"/>
            <a:endParaRPr lang="en-US" noProof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0953E1-FA2E-524E-B88D-8B3BEDA979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35027" y="1306028"/>
            <a:ext cx="10984970" cy="862040"/>
          </a:xfrm>
          <a:prstGeom prst="rect">
            <a:avLst/>
          </a:prstGeom>
        </p:spPr>
        <p:txBody>
          <a:bodyPr/>
          <a:lstStyle>
            <a:lvl1pPr algn="l">
              <a:defRPr sz="7600" b="1" i="0" kern="0" spc="3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3A275E7-957F-9F4A-B5E3-87368DB80B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35026" y="2227043"/>
            <a:ext cx="10984970" cy="6762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 i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defRPr>
            </a:lvl1pPr>
          </a:lstStyle>
          <a:p>
            <a:pPr lvl="0"/>
            <a:r>
              <a:rPr lang="de-DE"/>
              <a:t>Subtitle Goes Here. Lorem Ipsum Dolor </a:t>
            </a:r>
            <a:r>
              <a:rPr lang="de-DE" err="1"/>
              <a:t>Sit</a:t>
            </a:r>
            <a:r>
              <a:rPr lang="de-DE"/>
              <a:t> Amet.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447028-9F70-3A44-9318-4957BDBFEC5F}"/>
              </a:ext>
            </a:extLst>
          </p:cNvPr>
          <p:cNvCxnSpPr>
            <a:cxnSpLocks/>
          </p:cNvCxnSpPr>
          <p:nvPr userDrawn="1"/>
        </p:nvCxnSpPr>
        <p:spPr>
          <a:xfrm>
            <a:off x="8660458" y="3182953"/>
            <a:ext cx="141658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80339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2252329" y="4524379"/>
            <a:ext cx="10760075" cy="75882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94146" y="1306028"/>
            <a:ext cx="19595719" cy="862040"/>
          </a:xfrm>
          <a:prstGeom prst="rect">
            <a:avLst/>
          </a:prstGeom>
        </p:spPr>
        <p:txBody>
          <a:bodyPr/>
          <a:lstStyle>
            <a:lvl1pPr algn="ctr">
              <a:defRPr sz="7600" b="1" i="0" kern="0" spc="-100" baseline="0">
                <a:solidFill>
                  <a:schemeClr val="tx2"/>
                </a:solidFill>
                <a:latin typeface="Calibri Bold" charset="0"/>
                <a:ea typeface="Calibri Bold" charset="0"/>
                <a:cs typeface="Calibri Bold" charset="0"/>
              </a:defRPr>
            </a:lvl1pPr>
          </a:lstStyle>
          <a:p>
            <a:r>
              <a:rPr lang="en-US"/>
              <a:t>MAIN TITLE GOES HERE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2394145" y="2371270"/>
            <a:ext cx="19595716" cy="6762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 b="0" i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defRPr>
            </a:lvl1pPr>
          </a:lstStyle>
          <a:p>
            <a:pPr lvl="0"/>
            <a:r>
              <a:rPr lang="de-DE"/>
              <a:t>Subtitle Goes Here. Lorem Ipsum Dolor Sit Amet, A Gravida Quis Wisi Elit Diam Sit Donec Libero.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AB6C34-E778-154C-91B4-2117FF8E792A}"/>
              </a:ext>
            </a:extLst>
          </p:cNvPr>
          <p:cNvCxnSpPr>
            <a:cxnSpLocks/>
          </p:cNvCxnSpPr>
          <p:nvPr userDrawn="1"/>
        </p:nvCxnSpPr>
        <p:spPr>
          <a:xfrm>
            <a:off x="1619578" y="3182953"/>
            <a:ext cx="21392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86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F44E-2528-D7A3-3CFD-C33D8104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B2A46-E940-FFF1-E591-8DA9ECF1F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91383-8684-7EB9-862C-14C24278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EFE7-FE2E-C240-8D1C-A02584125953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876BA-1649-808F-7D32-793CC3FA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A4050-D7F5-2524-2F63-22CEC546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4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2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pPr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This is a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7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02" r:id="rId9"/>
    <p:sldLayoutId id="2147484003" r:id="rId10"/>
    <p:sldLayoutId id="2147483993" r:id="rId11"/>
    <p:sldLayoutId id="2147484011" r:id="rId12"/>
    <p:sldLayoutId id="2147484012" r:id="rId13"/>
    <p:sldLayoutId id="2147484010" r:id="rId14"/>
    <p:sldLayoutId id="2147484013" r:id="rId15"/>
    <p:sldLayoutId id="2147484009" r:id="rId16"/>
    <p:sldLayoutId id="2147484004" r:id="rId17"/>
    <p:sldLayoutId id="2147484005" r:id="rId18"/>
    <p:sldLayoutId id="2147484006" r:id="rId19"/>
    <p:sldLayoutId id="2147484007" r:id="rId20"/>
    <p:sldLayoutId id="2147484008" r:id="rId21"/>
    <p:sldLayoutId id="2147483953" r:id="rId22"/>
    <p:sldLayoutId id="2147483966" r:id="rId23"/>
    <p:sldLayoutId id="2147483963" r:id="rId24"/>
    <p:sldLayoutId id="2147483981" r:id="rId25"/>
    <p:sldLayoutId id="2147484046" r:id="rId26"/>
  </p:sldLayoutIdLs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b="1" i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600" b="0" i="0" kern="1200">
          <a:solidFill>
            <a:schemeClr val="tx2"/>
          </a:solidFill>
          <a:latin typeface="Calibri Regular" charset="0"/>
          <a:ea typeface="Calibri Regular" charset="0"/>
          <a:cs typeface="Calibri Regular" charset="0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Calibri Regular" charset="0"/>
          <a:ea typeface="Calibri Regular" charset="0"/>
          <a:cs typeface="Calibri Regular" charset="0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Calibri Regular" charset="0"/>
          <a:ea typeface="Calibri Regular" charset="0"/>
          <a:cs typeface="Calibri Regular" charset="0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Calibri Regular" charset="0"/>
          <a:ea typeface="Calibri Regular" charset="0"/>
          <a:cs typeface="Calibri Regular" charset="0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Calibri Regular" charset="0"/>
          <a:ea typeface="Calibri Regular" charset="0"/>
          <a:cs typeface="Calibri Regular" charset="0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ihemr.atlassian.net/wiki/x/AQDLBgE" TargetMode="Externa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7B2DF-A0BB-A783-203C-1BFD6F367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7047" y="713227"/>
            <a:ext cx="21259802" cy="1253223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dirty="0" err="1"/>
              <a:t>Imladris</a:t>
            </a:r>
            <a:r>
              <a:rPr lang="en-US" dirty="0"/>
              <a:t> Integration, Test, and Training Lab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EF976-DC9C-0EC0-2E0B-87066822D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62" y="2298843"/>
            <a:ext cx="11708494" cy="9017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B2E13E-BE2D-F81F-F95C-7D7B4BC19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956" y="7703724"/>
            <a:ext cx="8812017" cy="44734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FC7059-D4A0-C041-3BE5-A555D878B5AF}"/>
              </a:ext>
            </a:extLst>
          </p:cNvPr>
          <p:cNvSpPr txBox="1"/>
          <p:nvPr/>
        </p:nvSpPr>
        <p:spPr>
          <a:xfrm>
            <a:off x="3323064" y="12356570"/>
            <a:ext cx="12973808" cy="646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Imaging Lab for Digital Radiography Information Systems (IMLADRIS)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E19A08-F51B-A05F-CC03-658EFE091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1326" y="2298843"/>
            <a:ext cx="5909511" cy="2496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1F2DAB-304F-7F98-FC5B-60A6222EC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2380" y="4875216"/>
            <a:ext cx="5758593" cy="21823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8E2263-6F51-22ED-A228-FB1500D6F737}"/>
              </a:ext>
            </a:extLst>
          </p:cNvPr>
          <p:cNvSpPr txBox="1"/>
          <p:nvPr/>
        </p:nvSpPr>
        <p:spPr>
          <a:xfrm>
            <a:off x="19764466" y="12500233"/>
            <a:ext cx="2382383" cy="646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July 6, 2026</a:t>
            </a:r>
          </a:p>
        </p:txBody>
      </p:sp>
    </p:spTree>
    <p:extLst>
      <p:ext uri="{BB962C8B-B14F-4D97-AF65-F5344CB8AC3E}">
        <p14:creationId xmlns:p14="http://schemas.microsoft.com/office/powerpoint/2010/main" val="401867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62B7-DC54-D696-32DB-C925263C3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075C508-C258-1233-BC3A-30E970586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676" y="3708915"/>
            <a:ext cx="22118594" cy="1109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charset="0"/>
              </a:defRPr>
            </a:lvl5pPr>
            <a:lvl6pPr marL="2514600" indent="-228600" defTabSz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6pPr>
            <a:lvl7pPr marL="2971800" indent="-228600" defTabSz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7pPr>
            <a:lvl8pPr marL="3429000" indent="-228600" defTabSz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8pPr>
            <a:lvl9pPr marL="3886200" indent="-228600" defTabSz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3201" b="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Purpose</a:t>
            </a: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: Accelerate a successful deployment of EMR and PACS to </a:t>
            </a:r>
            <a:r>
              <a:rPr lang="en-US" altLang="en-US" sz="3201" dirty="0" err="1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Botsabelo</a:t>
            </a: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 Hospital and its network of fixed and mobile clinics.</a:t>
            </a:r>
          </a:p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b="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Integrate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Integrate components of the overall system to ensure they function correctly, learn the configuration and operation details.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Evaluate possible integrations with other existing or new components.</a:t>
            </a:r>
          </a:p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b="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Test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Develop all key workflows and exercise them to make them understandable and robust for our Lesotho staff.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Be able to quickly reproduce issues with fictional working data to share with external support organizations.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Stage and test new releases of all software components.</a:t>
            </a:r>
          </a:p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b="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Train</a:t>
            </a: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 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Set up hands-on training modules allowing staff to assume the roles of fictional staff to develop competency and confidence with the new EMR and PACS systems.</a:t>
            </a:r>
          </a:p>
          <a:p>
            <a:pPr marL="120015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1" dirty="0">
                <a:solidFill>
                  <a:schemeClr val="tx2"/>
                </a:solidFill>
                <a:latin typeface="Calibri Regular" charset="0"/>
                <a:ea typeface="Calibri Regular" charset="0"/>
                <a:cs typeface="Calibri Regular" charset="0"/>
              </a:rPr>
              <a:t>Use videos and screenshots from the lab to create on-demand, self-paced study modules.</a:t>
            </a:r>
          </a:p>
          <a:p>
            <a:pPr eaLnBrk="1" hangingPunct="1">
              <a:lnSpc>
                <a:spcPct val="150000"/>
              </a:lnSpc>
            </a:pPr>
            <a:endParaRPr lang="en-US" altLang="en-US" sz="3201" b="1" dirty="0">
              <a:solidFill>
                <a:schemeClr val="tx2"/>
              </a:solidFill>
              <a:latin typeface="Calibri Regular" charset="0"/>
              <a:ea typeface="Calibri Regular" charset="0"/>
              <a:cs typeface="Calibri Regular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3201" b="1" dirty="0">
              <a:solidFill>
                <a:schemeClr val="tx2"/>
              </a:solidFill>
              <a:latin typeface="Calibri Regular" charset="0"/>
              <a:ea typeface="Calibri Regular" charset="0"/>
              <a:cs typeface="Calibri Regular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3201" b="1" dirty="0">
              <a:solidFill>
                <a:schemeClr val="tx2"/>
              </a:solidFill>
              <a:latin typeface="Calibri Regular" charset="0"/>
              <a:ea typeface="Calibri Regular" charset="0"/>
              <a:cs typeface="Calibri Regular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394B2-222F-6B68-8E76-A4FAC71E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234" y="1640136"/>
            <a:ext cx="22369532" cy="862040"/>
          </a:xfrm>
        </p:spPr>
        <p:txBody>
          <a:bodyPr>
            <a:normAutofit fontScale="90000"/>
          </a:bodyPr>
          <a:lstStyle/>
          <a:p>
            <a:r>
              <a:rPr lang="en-US" sz="8800" kern="12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8800" kern="1200" dirty="0" err="1">
                <a:latin typeface="Calibri" panose="020F0502020204030204" pitchFamily="34" charset="0"/>
                <a:cs typeface="Calibri" panose="020F0502020204030204" pitchFamily="34" charset="0"/>
              </a:rPr>
              <a:t>Imladris</a:t>
            </a:r>
            <a:r>
              <a:rPr lang="en-US" sz="8800" kern="1200" dirty="0">
                <a:latin typeface="Calibri" panose="020F0502020204030204" pitchFamily="34" charset="0"/>
                <a:cs typeface="Calibri" panose="020F0502020204030204" pitchFamily="34" charset="0"/>
              </a:rPr>
              <a:t> Integration, Test and Training Lab</a:t>
            </a:r>
          </a:p>
        </p:txBody>
      </p:sp>
    </p:spTree>
    <p:extLst>
      <p:ext uri="{BB962C8B-B14F-4D97-AF65-F5344CB8AC3E}">
        <p14:creationId xmlns:p14="http://schemas.microsoft.com/office/powerpoint/2010/main" val="1472476140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D9563-B6BA-558C-A4D2-99902292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Realistic Scenarios without PII/PHI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1A6CE-9B37-2576-EB64-6C819F82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913888"/>
            <a:ext cx="21031200" cy="9440038"/>
          </a:xfrm>
        </p:spPr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Only support configurations or scenarios that support real needs.</a:t>
            </a:r>
          </a:p>
          <a:p>
            <a:pPr lvl="1"/>
            <a:r>
              <a:rPr lang="en-US" dirty="0"/>
              <a:t>For example, don’t try to be realistic about operating modalities, no need to support radiologic technologists (</a:t>
            </a:r>
            <a:r>
              <a:rPr lang="en-US" dirty="0" err="1"/>
              <a:t>radtechs</a:t>
            </a:r>
            <a:r>
              <a:rPr lang="en-US" dirty="0"/>
              <a:t>), so lab has minimal modality console/simulator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Only support UI for identified workflows for Lesotho EMR + PACS operations.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Support a well-defined, verifiable process that satisfies regulatory requirements for anonymizing patient data to use in the lab.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Stress test the technology beyond what our users could expect.  E.g. the “Network Disconnect Simulator”</a:t>
            </a:r>
          </a:p>
        </p:txBody>
      </p:sp>
    </p:spTree>
    <p:extLst>
      <p:ext uri="{BB962C8B-B14F-4D97-AF65-F5344CB8AC3E}">
        <p14:creationId xmlns:p14="http://schemas.microsoft.com/office/powerpoint/2010/main" val="205777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0903B-B3FA-F741-7BCC-5E4E38E4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Integrate</a:t>
            </a:r>
            <a:r>
              <a:rPr lang="en-US" b="0" dirty="0"/>
              <a:t> Digital Radiology Information System elements.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42E97-BF40-D9A5-88B3-528ACF436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integrated today?</a:t>
            </a:r>
          </a:p>
          <a:p>
            <a:pPr marL="1200150" lvl="1">
              <a:lnSpc>
                <a:spcPct val="100000"/>
              </a:lnSpc>
            </a:pPr>
            <a:r>
              <a:rPr lang="en-US" altLang="en-US" sz="3201" b="1" dirty="0" err="1"/>
              <a:t>OpenMRS</a:t>
            </a:r>
            <a:r>
              <a:rPr lang="en-US" altLang="en-US" sz="3201" b="1" dirty="0"/>
              <a:t> – Lesotho-</a:t>
            </a:r>
            <a:r>
              <a:rPr lang="en-US" altLang="en-US" sz="3201" b="1" dirty="0" err="1"/>
              <a:t>emr</a:t>
            </a:r>
            <a:r>
              <a:rPr lang="en-US" altLang="en-US" sz="3201" b="1" dirty="0"/>
              <a:t> configuration</a:t>
            </a:r>
          </a:p>
          <a:p>
            <a:pPr marL="1200150" lvl="1">
              <a:lnSpc>
                <a:spcPct val="100000"/>
              </a:lnSpc>
            </a:pPr>
            <a:r>
              <a:rPr lang="en-US" altLang="en-US" sz="3201" b="1" dirty="0"/>
              <a:t>Modality simulators</a:t>
            </a:r>
          </a:p>
          <a:p>
            <a:pPr marL="1200150" lvl="1">
              <a:lnSpc>
                <a:spcPct val="100000"/>
              </a:lnSpc>
            </a:pPr>
            <a:r>
              <a:rPr lang="en-US" altLang="en-US" sz="3201" b="1" dirty="0"/>
              <a:t>Multiple PACS options with routing</a:t>
            </a:r>
          </a:p>
          <a:p>
            <a:pPr marL="1200150" lvl="1">
              <a:lnSpc>
                <a:spcPct val="100000"/>
              </a:lnSpc>
            </a:pPr>
            <a:r>
              <a:rPr lang="en-US" altLang="en-US" sz="3201" b="1" dirty="0" err="1"/>
              <a:t>AdvaPACS</a:t>
            </a:r>
            <a:r>
              <a:rPr lang="en-US" altLang="en-US" sz="3201" b="1" dirty="0"/>
              <a:t> access via </a:t>
            </a:r>
            <a:r>
              <a:rPr lang="en-US" altLang="en-US" sz="3201" b="1" dirty="0" err="1"/>
              <a:t>AdvaPACS</a:t>
            </a:r>
            <a:r>
              <a:rPr lang="en-US" altLang="en-US" sz="3201" b="1" dirty="0"/>
              <a:t> Gateway</a:t>
            </a:r>
          </a:p>
          <a:p>
            <a:pPr marL="1200150" lvl="1">
              <a:lnSpc>
                <a:spcPct val="100000"/>
              </a:lnSpc>
            </a:pPr>
            <a:r>
              <a:rPr lang="en-US" altLang="en-US" sz="3201" b="1" dirty="0"/>
              <a:t>Simple routing to a </a:t>
            </a:r>
            <a:r>
              <a:rPr lang="en-US" altLang="en-US" sz="3201" b="1" dirty="0" err="1"/>
              <a:t>Qure.ai</a:t>
            </a:r>
            <a:r>
              <a:rPr lang="en-US" altLang="en-US" sz="3201" b="1" dirty="0"/>
              <a:t> simulator for secondary capture of </a:t>
            </a:r>
            <a:r>
              <a:rPr lang="en-US" altLang="en-US" sz="3201" b="1" dirty="0" err="1"/>
              <a:t>Qure</a:t>
            </a:r>
            <a:r>
              <a:rPr lang="en-US" altLang="en-US" sz="3201" b="1" dirty="0"/>
              <a:t> results.</a:t>
            </a:r>
            <a:endParaRPr lang="en-US" dirty="0"/>
          </a:p>
          <a:p>
            <a:r>
              <a:rPr lang="en-US" dirty="0"/>
              <a:t> What is possible tomorrow?</a:t>
            </a:r>
          </a:p>
          <a:p>
            <a:pPr lvl="1"/>
            <a:r>
              <a:rPr lang="en-US" sz="3201" b="1" dirty="0" err="1"/>
              <a:t>AdvaView</a:t>
            </a:r>
            <a:r>
              <a:rPr lang="en-US" sz="3201" b="1" dirty="0"/>
              <a:t> viewer evaluation configurations.</a:t>
            </a:r>
          </a:p>
          <a:p>
            <a:pPr lvl="1"/>
            <a:r>
              <a:rPr lang="en-US" sz="3201" b="1" dirty="0" err="1"/>
              <a:t>Qure</a:t>
            </a:r>
            <a:r>
              <a:rPr lang="en-US" sz="3201" b="1" dirty="0"/>
              <a:t> integration (replace the sim)</a:t>
            </a:r>
          </a:p>
          <a:p>
            <a:pPr lvl="1"/>
            <a:r>
              <a:rPr lang="en-US" sz="3201" b="1" dirty="0"/>
              <a:t>Alternate ‘sign in with’ connectors besides PIH Entra ID.</a:t>
            </a:r>
          </a:p>
        </p:txBody>
      </p:sp>
    </p:spTree>
    <p:extLst>
      <p:ext uri="{BB962C8B-B14F-4D97-AF65-F5344CB8AC3E}">
        <p14:creationId xmlns:p14="http://schemas.microsoft.com/office/powerpoint/2010/main" val="13883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23BE-1489-55E7-D1F8-92711DF5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1983358"/>
          </a:xfrm>
        </p:spPr>
        <p:txBody>
          <a:bodyPr>
            <a:normAutofit fontScale="90000"/>
          </a:bodyPr>
          <a:lstStyle/>
          <a:p>
            <a:r>
              <a:rPr lang="en-US" dirty="0"/>
              <a:t>Test</a:t>
            </a:r>
            <a:r>
              <a:rPr lang="en-US" b="0" dirty="0"/>
              <a:t> components/workflows</a:t>
            </a:r>
            <a:r>
              <a:rPr lang="en-US" dirty="0"/>
              <a:t> </a:t>
            </a:r>
            <a:r>
              <a:rPr lang="en-US" b="0" dirty="0"/>
              <a:t>in the </a:t>
            </a:r>
            <a:r>
              <a:rPr lang="en-US" b="0" dirty="0" err="1"/>
              <a:t>Bophelong</a:t>
            </a:r>
            <a:r>
              <a:rPr lang="en-US" b="0" dirty="0"/>
              <a:t> MDR-TB Hospital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BA8B-F9D0-6A0C-8785-38D2F029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072384"/>
            <a:ext cx="21031200" cy="9281542"/>
          </a:xfrm>
        </p:spPr>
        <p:txBody>
          <a:bodyPr/>
          <a:lstStyle/>
          <a:p>
            <a:r>
              <a:rPr lang="en-US" dirty="0"/>
              <a:t>Provide a complete, complex fictional set of staff, patients, medical histories and images to use to test new releases of software or to reproduce issues reported from the field.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First pass integration of the Lesotho-EMR </a:t>
            </a:r>
            <a:r>
              <a:rPr lang="en-US" dirty="0" err="1"/>
              <a:t>OpenMRS</a:t>
            </a:r>
            <a:r>
              <a:rPr lang="en-US" dirty="0"/>
              <a:t> found and addressed 5 issues affecting usability.   Dev team engaged via PIHEMR Jira.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Developing initial end-to-end workflows for patient treatment.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Finding workflow steps that are unclear, incomplete, or exhibit bugs in underlying software.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EC314-251E-4D24-CC31-C1EDAA7D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4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49592-68AD-1757-9060-CE150EE6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C867-40D7-F566-8214-9EB1615E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</a:t>
            </a:r>
            <a:r>
              <a:rPr lang="en-US" b="0" dirty="0"/>
              <a:t> staff</a:t>
            </a:r>
            <a:r>
              <a:rPr lang="en-US" dirty="0"/>
              <a:t> </a:t>
            </a:r>
            <a:r>
              <a:rPr lang="en-US" b="0" dirty="0"/>
              <a:t>for the </a:t>
            </a:r>
            <a:r>
              <a:rPr lang="en-US" b="0" dirty="0" err="1"/>
              <a:t>Botsabelo</a:t>
            </a:r>
            <a:r>
              <a:rPr lang="en-US" b="0" dirty="0"/>
              <a:t> MDR-TB Hospital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4AB4A-3629-0F4C-9D8A-5CCFEC0B8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 complete, complex fictional set of staff, patients, medical histories and images to use to test new releases of software.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Use the anonymized DICOM image library to seed images for fictional patients.</a:t>
            </a:r>
          </a:p>
          <a:p>
            <a:pPr marL="685800" lvl="1" indent="-685800">
              <a:spcBef>
                <a:spcPts val="2000"/>
              </a:spcBef>
            </a:pPr>
            <a:r>
              <a:rPr lang="en-US" altLang="en-US" sz="5600" dirty="0"/>
              <a:t>Set up hands-on training modules allowing staff to assume the roles of fictional staff to develop competency and confidence with the new EMR and PACS systems.</a:t>
            </a:r>
          </a:p>
          <a:p>
            <a:pPr marL="685800" lvl="1" indent="-685800">
              <a:spcBef>
                <a:spcPts val="2000"/>
              </a:spcBef>
            </a:pPr>
            <a:r>
              <a:rPr lang="en-US" altLang="en-US" sz="5600" dirty="0"/>
              <a:t>Use videos and screenshots from the lab to create on-demand, self-paced study modules.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14DD-2F17-704B-41ED-96BAD964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4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BBAB-1577-792D-EBB4-7F2F001D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1634997"/>
          </a:xfrm>
        </p:spPr>
        <p:txBody>
          <a:bodyPr/>
          <a:lstStyle/>
          <a:p>
            <a:r>
              <a:rPr lang="en-US" dirty="0" err="1"/>
              <a:t>Imladris</a:t>
            </a:r>
            <a:r>
              <a:rPr lang="en-US" dirty="0"/>
              <a:t> Lab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7A03F-5C8D-17AA-E47F-471758994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743200"/>
            <a:ext cx="21031200" cy="9610726"/>
          </a:xfrm>
        </p:spPr>
        <p:txBody>
          <a:bodyPr/>
          <a:lstStyle/>
          <a:p>
            <a:r>
              <a:rPr lang="en-US" b="1" dirty="0"/>
              <a:t>Existing</a:t>
            </a:r>
          </a:p>
          <a:p>
            <a:pPr marL="2286000" lvl="1" indent="-914400">
              <a:buFont typeface="+mj-lt"/>
              <a:buAutoNum type="arabicPeriod"/>
            </a:pPr>
            <a:r>
              <a:rPr lang="en-US" b="1" dirty="0"/>
              <a:t>OP-QS </a:t>
            </a:r>
            <a:r>
              <a:rPr lang="en-US" dirty="0" err="1"/>
              <a:t>Orthanc</a:t>
            </a:r>
            <a:r>
              <a:rPr lang="en-US" dirty="0"/>
              <a:t> PACS / </a:t>
            </a:r>
            <a:r>
              <a:rPr lang="en-US" dirty="0" err="1"/>
              <a:t>Qure.ai</a:t>
            </a:r>
            <a:r>
              <a:rPr lang="en-US" dirty="0"/>
              <a:t> Sim with </a:t>
            </a:r>
            <a:r>
              <a:rPr lang="en-US" dirty="0" err="1"/>
              <a:t>AdvaPACS</a:t>
            </a:r>
            <a:r>
              <a:rPr lang="en-US" dirty="0"/>
              <a:t> gateway</a:t>
            </a:r>
          </a:p>
          <a:p>
            <a:r>
              <a:rPr lang="en-US" b="1" dirty="0"/>
              <a:t>Candidate</a:t>
            </a:r>
          </a:p>
          <a:p>
            <a:pPr marL="2286000" lvl="1" indent="-914400">
              <a:buFont typeface="+mj-lt"/>
              <a:buAutoNum type="arabicPeriod"/>
            </a:pPr>
            <a:r>
              <a:rPr lang="en-US" b="1" dirty="0"/>
              <a:t>AP-QS </a:t>
            </a:r>
            <a:r>
              <a:rPr lang="en-US" dirty="0" err="1"/>
              <a:t>AdvaPACS</a:t>
            </a:r>
            <a:r>
              <a:rPr lang="en-US" dirty="0"/>
              <a:t> - </a:t>
            </a:r>
            <a:r>
              <a:rPr lang="en-US" dirty="0" err="1"/>
              <a:t>AdvaView</a:t>
            </a:r>
            <a:r>
              <a:rPr lang="en-US" dirty="0"/>
              <a:t> / </a:t>
            </a:r>
            <a:r>
              <a:rPr lang="en-US" dirty="0" err="1"/>
              <a:t>Qure.ai</a:t>
            </a:r>
            <a:r>
              <a:rPr lang="en-US" dirty="0"/>
              <a:t> Sim configuration</a:t>
            </a:r>
          </a:p>
          <a:p>
            <a:pPr marL="2286000" lvl="1" indent="-914400">
              <a:buFont typeface="+mj-lt"/>
              <a:buAutoNum type="arabicPeriod"/>
            </a:pPr>
            <a:r>
              <a:rPr lang="en-US" b="1" dirty="0" err="1"/>
              <a:t>AdvaPacs</a:t>
            </a:r>
            <a:r>
              <a:rPr lang="en-US" b="1" dirty="0"/>
              <a:t> / </a:t>
            </a:r>
            <a:r>
              <a:rPr lang="en-US" b="1" dirty="0" err="1"/>
              <a:t>Qure</a:t>
            </a:r>
            <a:r>
              <a:rPr lang="en-US" b="1" dirty="0"/>
              <a:t> (AP-Q) </a:t>
            </a:r>
            <a:r>
              <a:rPr lang="en-US" dirty="0"/>
              <a:t>- AP-QS + actual </a:t>
            </a:r>
            <a:r>
              <a:rPr lang="en-US" dirty="0" err="1"/>
              <a:t>Qure.ai</a:t>
            </a:r>
            <a:r>
              <a:rPr lang="en-US" dirty="0"/>
              <a:t> elements (</a:t>
            </a:r>
            <a:r>
              <a:rPr lang="en-US" dirty="0" err="1"/>
              <a:t>Qure.ai</a:t>
            </a:r>
            <a:r>
              <a:rPr lang="en-US" dirty="0"/>
              <a:t> workspace, cloud </a:t>
            </a:r>
            <a:r>
              <a:rPr lang="en-US" dirty="0" err="1"/>
              <a:t>qXR</a:t>
            </a:r>
            <a:r>
              <a:rPr lang="en-US" dirty="0"/>
              <a:t> access, laptop ‘</a:t>
            </a:r>
            <a:r>
              <a:rPr lang="en-US" dirty="0" err="1"/>
              <a:t>Qure</a:t>
            </a:r>
            <a:r>
              <a:rPr lang="en-US" dirty="0"/>
              <a:t> App’</a:t>
            </a:r>
          </a:p>
          <a:p>
            <a:pPr marL="2286000" lvl="1" indent="-914400">
              <a:buFont typeface="+mj-lt"/>
              <a:buAutoNum type="arabicPeriod"/>
            </a:pPr>
            <a:r>
              <a:rPr lang="en-US" b="1" dirty="0"/>
              <a:t>PAX-QS</a:t>
            </a:r>
            <a:r>
              <a:rPr lang="en-US" dirty="0"/>
              <a:t> – </a:t>
            </a:r>
            <a:r>
              <a:rPr lang="en-US" dirty="0" err="1"/>
              <a:t>Paxera</a:t>
            </a:r>
            <a:r>
              <a:rPr lang="en-US" dirty="0"/>
              <a:t> solution + </a:t>
            </a:r>
            <a:r>
              <a:rPr lang="en-US" dirty="0" err="1"/>
              <a:t>Qure.ai</a:t>
            </a:r>
            <a:r>
              <a:rPr lang="en-US" dirty="0"/>
              <a:t> integration.</a:t>
            </a:r>
          </a:p>
          <a:p>
            <a:pPr marL="2286000" lvl="1" indent="-914400">
              <a:buFont typeface="+mj-lt"/>
              <a:buAutoNum type="arabicPeriod"/>
            </a:pPr>
            <a:r>
              <a:rPr lang="en-US" b="1" dirty="0"/>
              <a:t>BOT-1 </a:t>
            </a:r>
            <a:r>
              <a:rPr lang="en-US" dirty="0"/>
              <a:t>First candidate </a:t>
            </a:r>
            <a:r>
              <a:rPr lang="en-US" dirty="0" err="1"/>
              <a:t>Botsabelo</a:t>
            </a:r>
            <a:r>
              <a:rPr lang="en-US" dirty="0"/>
              <a:t> configuration using the selected PIH PACS (using </a:t>
            </a:r>
            <a:r>
              <a:rPr lang="en-US" dirty="0" err="1"/>
              <a:t>Bophelong</a:t>
            </a:r>
            <a:r>
              <a:rPr lang="en-US" dirty="0"/>
              <a:t> data). </a:t>
            </a:r>
          </a:p>
          <a:p>
            <a:pPr marL="2286000" lvl="1" indent="-914400">
              <a:buFont typeface="+mj-lt"/>
              <a:buAutoNum type="arabicPeriod"/>
            </a:pPr>
            <a:r>
              <a:rPr lang="en-US" b="1" dirty="0"/>
              <a:t>More</a:t>
            </a:r>
            <a:r>
              <a:rPr lang="en-US" dirty="0"/>
              <a:t>…. You get the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B3F94-E210-2750-3E68-06D2808D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32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4082-9AF2-8999-63DC-62C497CB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012949"/>
          </a:xfrm>
        </p:spPr>
        <p:txBody>
          <a:bodyPr>
            <a:noAutofit/>
          </a:bodyPr>
          <a:lstStyle/>
          <a:p>
            <a:r>
              <a:rPr lang="en-US" sz="6600" dirty="0"/>
              <a:t>OP-QS </a:t>
            </a:r>
            <a:r>
              <a:rPr lang="en-US" sz="6600" b="0" dirty="0" err="1"/>
              <a:t>Orthanc</a:t>
            </a:r>
            <a:r>
              <a:rPr lang="en-US" sz="6600" b="0" dirty="0"/>
              <a:t> PACS / </a:t>
            </a:r>
            <a:r>
              <a:rPr lang="en-US" sz="6600" b="0" dirty="0" err="1"/>
              <a:t>Qure.ai</a:t>
            </a:r>
            <a:r>
              <a:rPr lang="en-US" sz="6600" b="0" dirty="0"/>
              <a:t> Sim with </a:t>
            </a:r>
            <a:r>
              <a:rPr lang="en-US" sz="6600" b="0" dirty="0" err="1"/>
              <a:t>AdvaPACS</a:t>
            </a:r>
            <a:r>
              <a:rPr lang="en-US" sz="6600" b="0" dirty="0"/>
              <a:t> gateway</a:t>
            </a:r>
            <a:br>
              <a:rPr lang="en-US" sz="6600" dirty="0"/>
            </a:br>
            <a:endParaRPr lang="en-US" sz="6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61240-6ED2-545A-79D5-AA316FC8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A098A-3418-85BA-1E28-F33839617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45" y="2164467"/>
            <a:ext cx="22050925" cy="95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94FB-3363-A616-D780-9C93E58F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96EF-27A0-2E7E-2B0B-AAC9C67B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819139"/>
            <a:ext cx="21031200" cy="1291016"/>
          </a:xfrm>
        </p:spPr>
        <p:txBody>
          <a:bodyPr>
            <a:noAutofit/>
          </a:bodyPr>
          <a:lstStyle/>
          <a:p>
            <a:r>
              <a:rPr lang="en-US" sz="7200" dirty="0"/>
              <a:t>AP-QS </a:t>
            </a:r>
            <a:r>
              <a:rPr lang="en-US" sz="7200" b="0" dirty="0" err="1"/>
              <a:t>AdvaPACS</a:t>
            </a:r>
            <a:r>
              <a:rPr lang="en-US" sz="7200" b="0" dirty="0"/>
              <a:t> / </a:t>
            </a:r>
            <a:r>
              <a:rPr lang="en-US" sz="7200" b="0" dirty="0" err="1"/>
              <a:t>Qure.ai</a:t>
            </a:r>
            <a:r>
              <a:rPr lang="en-US" sz="7200" b="0" dirty="0"/>
              <a:t> Sim</a:t>
            </a:r>
            <a:endParaRPr lang="en-US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8C411-2122-A79D-1AB5-4A9CD437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4A948-BCC2-391A-0913-01EECF77A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324242"/>
            <a:ext cx="21031200" cy="888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9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E78D-8801-DD1B-B2DE-D6FB9973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C6772-56C7-41D9-ABE1-6B1F18F0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1634997"/>
          </a:xfrm>
        </p:spPr>
        <p:txBody>
          <a:bodyPr/>
          <a:lstStyle/>
          <a:p>
            <a:r>
              <a:rPr lang="en-US" dirty="0"/>
              <a:t>Next steps?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FD54-7F44-F3F0-749D-A8226A0B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743200"/>
            <a:ext cx="21031200" cy="9610726"/>
          </a:xfrm>
        </p:spPr>
        <p:txBody>
          <a:bodyPr/>
          <a:lstStyle/>
          <a:p>
            <a:pPr marL="914400" indent="-914400">
              <a:buFont typeface="+mj-lt"/>
              <a:buAutoNum type="arabicPeriod"/>
            </a:pPr>
            <a:r>
              <a:rPr lang="en-US" dirty="0"/>
              <a:t>Set up HL7 progress / status reporting back to </a:t>
            </a:r>
            <a:r>
              <a:rPr lang="en-US" dirty="0" err="1"/>
              <a:t>OpenMRS</a:t>
            </a:r>
            <a:r>
              <a:rPr lang="en-US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US" dirty="0"/>
              <a:t>Support study reporting workflows.</a:t>
            </a:r>
          </a:p>
          <a:p>
            <a:pPr marL="914400" indent="-914400">
              <a:buFont typeface="+mj-lt"/>
              <a:buAutoNum type="arabicPeriod"/>
            </a:pPr>
            <a:r>
              <a:rPr lang="en-US" dirty="0"/>
              <a:t>Explore full set of </a:t>
            </a:r>
            <a:r>
              <a:rPr lang="en-US" dirty="0" err="1"/>
              <a:t>Botsabelo</a:t>
            </a:r>
            <a:r>
              <a:rPr lang="en-US" dirty="0"/>
              <a:t> EMR/PACS workflows and support in the lab.</a:t>
            </a:r>
          </a:p>
          <a:p>
            <a:pPr marL="914400" indent="-914400">
              <a:buFont typeface="+mj-lt"/>
              <a:buAutoNum type="arabicPeriod"/>
            </a:pPr>
            <a:r>
              <a:rPr lang="en-US" dirty="0"/>
              <a:t>More.</a:t>
            </a:r>
          </a:p>
          <a:p>
            <a:pPr marL="914400" indent="-914400">
              <a:buFont typeface="+mj-lt"/>
              <a:buAutoNum type="arabicPeriod"/>
            </a:pPr>
            <a:endParaRPr lang="en-US" dirty="0"/>
          </a:p>
          <a:p>
            <a:pPr marL="914400" indent="-914400">
              <a:buFont typeface="+mj-lt"/>
              <a:buAutoNum type="arabicPeriod"/>
            </a:pPr>
            <a:endParaRPr lang="en-US" dirty="0"/>
          </a:p>
          <a:p>
            <a:r>
              <a:rPr lang="en-US" sz="5400" dirty="0" err="1"/>
              <a:t>Opt</a:t>
            </a:r>
            <a:r>
              <a:rPr lang="en-US" sz="5400" dirty="0"/>
              <a:t> in for notifications on the </a:t>
            </a:r>
            <a:r>
              <a:rPr lang="en-US" sz="5400" dirty="0" err="1"/>
              <a:t>Imladris</a:t>
            </a:r>
            <a:r>
              <a:rPr lang="en-US" sz="5400" dirty="0"/>
              <a:t> Lab and </a:t>
            </a:r>
            <a:r>
              <a:rPr lang="en-US" sz="5400" dirty="0" err="1"/>
              <a:t>Bophelong</a:t>
            </a:r>
            <a:r>
              <a:rPr lang="en-US" sz="5400" dirty="0"/>
              <a:t> Health Network (BHN) News page: </a:t>
            </a:r>
            <a:r>
              <a:rPr lang="en-US" sz="5400" dirty="0">
                <a:hlinkClick r:id="rId2"/>
              </a:rPr>
              <a:t>https://pihemr.atlassian.net/wiki/x/AQDLBgE</a:t>
            </a:r>
            <a:r>
              <a:rPr lang="en-US" sz="54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F0801-A543-4CB9-A7D4-A58F68B3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42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624E-5F2C-E458-EC15-0AA2DB20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107416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AdvaPACS</a:t>
            </a:r>
            <a:r>
              <a:rPr lang="en-US" dirty="0"/>
              <a:t> + </a:t>
            </a:r>
            <a:r>
              <a:rPr lang="en-US" dirty="0" err="1"/>
              <a:t>Qure</a:t>
            </a:r>
            <a:r>
              <a:rPr lang="en-US" dirty="0"/>
              <a:t> Sim (AP-QS)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E11E-C11F-E02E-D2E2-B2594C7A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5E9B6-00DD-D944-935E-4C9BEE445341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3B0DD-1031-E770-C288-F48880385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1804416"/>
            <a:ext cx="22186392" cy="1126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2722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IH">
      <a:dk1>
        <a:srgbClr val="B0A69E"/>
      </a:dk1>
      <a:lt1>
        <a:srgbClr val="FFFFFF"/>
      </a:lt1>
      <a:dk2>
        <a:srgbClr val="555555"/>
      </a:dk2>
      <a:lt2>
        <a:srgbClr val="FAFCFF"/>
      </a:lt2>
      <a:accent1>
        <a:srgbClr val="FF9000"/>
      </a:accent1>
      <a:accent2>
        <a:srgbClr val="D15980"/>
      </a:accent2>
      <a:accent3>
        <a:srgbClr val="008EA0"/>
      </a:accent3>
      <a:accent4>
        <a:srgbClr val="F6BE00"/>
      </a:accent4>
      <a:accent5>
        <a:srgbClr val="323372"/>
      </a:accent5>
      <a:accent6>
        <a:srgbClr val="6B4119"/>
      </a:accent6>
      <a:hlink>
        <a:srgbClr val="216BA9"/>
      </a:hlink>
      <a:folHlink>
        <a:srgbClr val="1FB18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79B943B-5D70-3D41-9E8A-34981E8D2221}">
  <we:reference id="wa104380506" version="1.3.0.0" store="en-US" storeType="OMEX"/>
  <we:alternateReferences>
    <we:reference id="wa104380506" version="1.3.0.0" store="WA10438050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950732-6ff3-4442-9b0a-673d7ba0a237" xsi:nil="true"/>
    <lcf76f155ced4ddcb4097134ff3c332f xmlns="2b40325c-effe-4430-8101-2faf3ed79e3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E723849905E642816FC7C84958DE18" ma:contentTypeVersion="12" ma:contentTypeDescription="Create a new document." ma:contentTypeScope="" ma:versionID="99b0e853dc5258c6ac1a8c9d1d1a1eac">
  <xsd:schema xmlns:xsd="http://www.w3.org/2001/XMLSchema" xmlns:xs="http://www.w3.org/2001/XMLSchema" xmlns:p="http://schemas.microsoft.com/office/2006/metadata/properties" xmlns:ns2="2b40325c-effe-4430-8101-2faf3ed79e3e" xmlns:ns3="0f950732-6ff3-4442-9b0a-673d7ba0a237" targetNamespace="http://schemas.microsoft.com/office/2006/metadata/properties" ma:root="true" ma:fieldsID="c974450a28b0201b5b205988a8d1d7f0" ns2:_="" ns3:_="">
    <xsd:import namespace="2b40325c-effe-4430-8101-2faf3ed79e3e"/>
    <xsd:import namespace="0f950732-6ff3-4442-9b0a-673d7ba0a2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0325c-effe-4430-8101-2faf3ed79e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bbd3c62f-433e-4d1b-92df-86d079e0d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950732-6ff3-4442-9b0a-673d7ba0a23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8144792-9b55-40ee-88b9-b0deab2e1966}" ma:internalName="TaxCatchAll" ma:showField="CatchAllData" ma:web="0f950732-6ff3-4442-9b0a-673d7ba0a2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3A2572-62AB-4361-8871-CDA0AE768F73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2b40325c-effe-4430-8101-2faf3ed79e3e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f950732-6ff3-4442-9b0a-673d7ba0a237"/>
  </ds:schemaRefs>
</ds:datastoreItem>
</file>

<file path=customXml/itemProps2.xml><?xml version="1.0" encoding="utf-8"?>
<ds:datastoreItem xmlns:ds="http://schemas.openxmlformats.org/officeDocument/2006/customXml" ds:itemID="{33D047E2-A744-4C33-B837-368D6B328A17}">
  <ds:schemaRefs>
    <ds:schemaRef ds:uri="0f950732-6ff3-4442-9b0a-673d7ba0a237"/>
    <ds:schemaRef ds:uri="2b40325c-effe-4430-8101-2faf3ed79e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3922C1B-80CC-456E-924F-EEEB458FE7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711</Words>
  <Application>Microsoft Macintosh PowerPoint</Application>
  <PresentationFormat>Custom</PresentationFormat>
  <Paragraphs>74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Bold</vt:lpstr>
      <vt:lpstr>Calibri Regular</vt:lpstr>
      <vt:lpstr>Whitney Medium</vt:lpstr>
      <vt:lpstr>Default Theme</vt:lpstr>
      <vt:lpstr>PowerPoint Presentation</vt:lpstr>
      <vt:lpstr>The Imladris Integration, Test and Training Lab</vt:lpstr>
      <vt:lpstr>Support Realistic Scenarios without PII/PHI</vt:lpstr>
      <vt:lpstr>Integrate Digital Radiology Information System elements.</vt:lpstr>
      <vt:lpstr>Test components/workflows in the Bophelong MDR-TB Hospital</vt:lpstr>
      <vt:lpstr>Train staff for the Botsabelo MDR-TB Hospital</vt:lpstr>
      <vt:lpstr>Imladris Lab configurations</vt:lpstr>
      <vt:lpstr>OP-QS Orthanc PACS / Qure.ai Sim with AdvaPACS gateway </vt:lpstr>
      <vt:lpstr>AP-QS AdvaPACS / Qure.ai Sim</vt:lpstr>
      <vt:lpstr>Next steps?</vt:lpstr>
      <vt:lpstr>AdvaPACS + Qure Sim (AP-QS)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Michelle D. Riccio</dc:creator>
  <cp:keywords/>
  <dc:description/>
  <cp:lastModifiedBy>Jim Albers</cp:lastModifiedBy>
  <cp:revision>15</cp:revision>
  <cp:lastPrinted>2019-01-03T19:04:09Z</cp:lastPrinted>
  <dcterms:created xsi:type="dcterms:W3CDTF">2014-11-12T21:47:38Z</dcterms:created>
  <dcterms:modified xsi:type="dcterms:W3CDTF">2026-07-07T05:17:46Z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0x01010078E723849905E642816FC7C84958DE18</vt:lpwstr>
  </property>
  <property fmtid="{D5CDD505-2E9C-101B-9397-08002B2CF9AE}" pid="3" name="MediaServiceImageTags">
    <vt:lpwstr/>
  </property>
</Properties>
</file>